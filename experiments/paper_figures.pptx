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body containment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20k</c:v>
                </c:pt>
                <c:pt idx="1">
                  <c:v>50k</c:v>
                </c:pt>
                <c:pt idx="2">
                  <c:v>50k (r2)</c:v>
                </c:pt>
                <c:pt idx="3">
                  <c:v>216k (full)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47.27272727272727</c:v>
                </c:pt>
                <c:pt idx="1">
                  <c:v>57.27272727272727</c:v>
                </c:pt>
                <c:pt idx="2">
                  <c:v>60.72727272727273</c:v>
                </c:pt>
                <c:pt idx="3">
                  <c:v>62.72727272727273</c:v>
                </c:pt>
              </c:numCache>
            </c:numRef>
          </c:val>
        </c:ser>
        <c:dLbls>
          <c:numFmt formatCode="0.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% of generations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20k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0,-1,-1,-1</c:v>
                </c:pt>
                <c:pt idx="1">
                  <c:v>0,1,1,1</c:v>
                </c:pt>
                <c:pt idx="2">
                  <c:v>0,1,-1,-1</c:v>
                </c:pt>
                <c:pt idx="3">
                  <c:v>0,-1,-1,1</c:v>
                </c:pt>
                <c:pt idx="4">
                  <c:v>0,1,1,-1</c:v>
                </c:pt>
                <c:pt idx="5">
                  <c:v>0,3,-1,-1</c:v>
                </c:pt>
                <c:pt idx="6">
                  <c:v>0,1,-1,1</c:v>
                </c:pt>
                <c:pt idx="7">
                  <c:v>0,-1,-2,2</c:v>
                </c:pt>
                <c:pt idx="8">
                  <c:v>0,2,-2,-1</c:v>
                </c:pt>
                <c:pt idx="9">
                  <c:v>0,3,3,3</c:v>
                </c:pt>
                <c:pt idx="10">
                  <c:v>0,-3,-3,-3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76</c:v>
                </c:pt>
                <c:pt idx="1">
                  <c:v>68</c:v>
                </c:pt>
                <c:pt idx="2">
                  <c:v>76</c:v>
                </c:pt>
                <c:pt idx="3">
                  <c:v>62</c:v>
                </c:pt>
                <c:pt idx="4">
                  <c:v>74</c:v>
                </c:pt>
                <c:pt idx="5">
                  <c:v>54</c:v>
                </c:pt>
                <c:pt idx="6">
                  <c:v>46</c:v>
                </c:pt>
                <c:pt idx="7">
                  <c:v>36</c:v>
                </c:pt>
                <c:pt idx="8">
                  <c:v>28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50k (r2)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0,-1,-1,-1</c:v>
                </c:pt>
                <c:pt idx="1">
                  <c:v>0,1,1,1</c:v>
                </c:pt>
                <c:pt idx="2">
                  <c:v>0,1,-1,-1</c:v>
                </c:pt>
                <c:pt idx="3">
                  <c:v>0,-1,-1,1</c:v>
                </c:pt>
                <c:pt idx="4">
                  <c:v>0,1,1,-1</c:v>
                </c:pt>
                <c:pt idx="5">
                  <c:v>0,3,-1,-1</c:v>
                </c:pt>
                <c:pt idx="6">
                  <c:v>0,1,-1,1</c:v>
                </c:pt>
                <c:pt idx="7">
                  <c:v>0,-1,-2,2</c:v>
                </c:pt>
                <c:pt idx="8">
                  <c:v>0,2,-2,-1</c:v>
                </c:pt>
                <c:pt idx="9">
                  <c:v>0,3,3,3</c:v>
                </c:pt>
                <c:pt idx="10">
                  <c:v>0,-3,-3,-3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88</c:v>
                </c:pt>
                <c:pt idx="1">
                  <c:v>86</c:v>
                </c:pt>
                <c:pt idx="2">
                  <c:v>80</c:v>
                </c:pt>
                <c:pt idx="3">
                  <c:v>80</c:v>
                </c:pt>
                <c:pt idx="4">
                  <c:v>92</c:v>
                </c:pt>
                <c:pt idx="5">
                  <c:v>48</c:v>
                </c:pt>
                <c:pt idx="6">
                  <c:v>66</c:v>
                </c:pt>
                <c:pt idx="7">
                  <c:v>78</c:v>
                </c:pt>
                <c:pt idx="8">
                  <c:v>46</c:v>
                </c:pt>
                <c:pt idx="9">
                  <c:v>4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216k (full)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0,-1,-1,-1</c:v>
                </c:pt>
                <c:pt idx="1">
                  <c:v>0,1,1,1</c:v>
                </c:pt>
                <c:pt idx="2">
                  <c:v>0,1,-1,-1</c:v>
                </c:pt>
                <c:pt idx="3">
                  <c:v>0,-1,-1,1</c:v>
                </c:pt>
                <c:pt idx="4">
                  <c:v>0,1,1,-1</c:v>
                </c:pt>
                <c:pt idx="5">
                  <c:v>0,3,-1,-1</c:v>
                </c:pt>
                <c:pt idx="6">
                  <c:v>0,1,-1,1</c:v>
                </c:pt>
                <c:pt idx="7">
                  <c:v>0,-1,-2,2</c:v>
                </c:pt>
                <c:pt idx="8">
                  <c:v>0,2,-2,-1</c:v>
                </c:pt>
                <c:pt idx="9">
                  <c:v>0,3,3,3</c:v>
                </c:pt>
                <c:pt idx="10">
                  <c:v>0,-3,-3,-3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92</c:v>
                </c:pt>
                <c:pt idx="1">
                  <c:v>76</c:v>
                </c:pt>
                <c:pt idx="2">
                  <c:v>80</c:v>
                </c:pt>
                <c:pt idx="3">
                  <c:v>84</c:v>
                </c:pt>
                <c:pt idx="4">
                  <c:v>84</c:v>
                </c:pt>
                <c:pt idx="5">
                  <c:v>64</c:v>
                </c:pt>
                <c:pt idx="6">
                  <c:v>66</c:v>
                </c:pt>
                <c:pt idx="7">
                  <c:v>68</c:v>
                </c:pt>
                <c:pt idx="8">
                  <c:v>70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% of generations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20k (10 real ep.)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0.1554</c:v>
                </c:pt>
                <c:pt idx="1">
                  <c:v>0.1558</c:v>
                </c:pt>
                <c:pt idx="2">
                  <c:v>0.1592</c:v>
                </c:pt>
                <c:pt idx="3">
                  <c:v>0.1652</c:v>
                </c:pt>
                <c:pt idx="4">
                  <c:v>0.1688</c:v>
                </c:pt>
                <c:pt idx="5">
                  <c:v>0.1761</c:v>
                </c:pt>
                <c:pt idx="6">
                  <c:v>0.1829</c:v>
                </c:pt>
                <c:pt idx="7">
                  <c:v>0.1905</c:v>
                </c:pt>
                <c:pt idx="8">
                  <c:v>0.1967</c:v>
                </c:pt>
                <c:pt idx="9">
                  <c:v>0.2035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50k r2 (3 real ep.)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0.1592</c:v>
                </c:pt>
                <c:pt idx="1">
                  <c:v>0.1592</c:v>
                </c:pt>
                <c:pt idx="2">
                  <c:v>0.16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216k (1 real ep.)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0.1706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eval loss (real, bias-on)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body containment (%) [TBD]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 recipe</c:v>
                </c:pt>
                <c:pt idx="1">
                  <c:v>bias-off</c:v>
                </c:pt>
                <c:pt idx="2">
                  <c:v>no recipe</c:v>
                </c:pt>
                <c:pt idx="3">
                  <c:v>base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% of generations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motif containment (%) [old checker]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β=2</c:v>
                </c:pt>
                <c:pt idx="1">
                  <c:v>β=4</c:v>
                </c:pt>
                <c:pt idx="2">
                  <c:v>β=8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44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% of generations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1 — System overview (fig:overview)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Editable schematic: restyle in PowerPoint, export PDF/EMF for LaTeX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3794760" cy="5349240"/>
          </a:xfrm>
          <a:prstGeom prst="roundRect">
            <a:avLst/>
          </a:prstGeom>
          <a:solidFill>
            <a:srgbClr val="ECF2FA"/>
          </a:solidFill>
          <a:ln w="127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" y="1371600"/>
            <a:ext cx="3575304" cy="384048"/>
          </a:xfrm>
          <a:prstGeom prst="round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· Data Preparation</a:t>
            </a:r>
          </a:p>
        </p:txBody>
      </p:sp>
      <p:sp>
        <p:nvSpPr>
          <p:cNvPr id="6" name="Folded Corner 5"/>
          <p:cNvSpPr/>
          <p:nvPr/>
        </p:nvSpPr>
        <p:spPr>
          <a:xfrm>
            <a:off x="548640" y="1920240"/>
            <a:ext cx="3337560" cy="713232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E5EAA"/>
                </a:solidFill>
              </a:defRPr>
            </a:pPr>
            <a:r>
              <a:t>Score corpora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OpenScore Lieder (1.3k pieces) · Irishman folk tunes (216k)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9504"/>
            <a:ext cx="33375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E5EAA"/>
                </a:solidFill>
              </a:defRPr>
            </a:pPr>
            <a:r>
              <a:t>Preprocessing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V:1 melody wrap · rest-bar omission · 15-key transposition augmentation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58768"/>
            <a:ext cx="333756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E5EAA"/>
                </a:solidFill>
              </a:defRPr>
            </a:pPr>
            <a:r>
              <a:t>Motif extraction (shared backbone)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key-signature-aware parse → diatonic interval classes (step/skip/leap)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sliding window, repeat collapse → top motif per piece</a:t>
            </a:r>
          </a:p>
        </p:txBody>
      </p:sp>
      <p:sp>
        <p:nvSpPr>
          <p:cNvPr id="9" name="Folded Corner 8"/>
          <p:cNvSpPr/>
          <p:nvPr/>
        </p:nvSpPr>
        <p:spPr>
          <a:xfrm>
            <a:off x="548640" y="4974336"/>
            <a:ext cx="1600200" cy="118872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E5EAA"/>
                </a:solidFill>
              </a:defRPr>
            </a:pPr>
            <a:r>
              <a:t>Labeled real scores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%motif:v1 + %motif:abc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header lines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(217k pieces)</a:t>
            </a:r>
          </a:p>
        </p:txBody>
      </p:sp>
      <p:sp>
        <p:nvSpPr>
          <p:cNvPr id="10" name="Folded Corner 9"/>
          <p:cNvSpPr/>
          <p:nvPr/>
        </p:nvSpPr>
        <p:spPr>
          <a:xfrm>
            <a:off x="2286000" y="4974336"/>
            <a:ext cx="1600200" cy="118872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E5EAA"/>
                </a:solidFill>
              </a:defRPr>
            </a:pPr>
            <a:r>
              <a:t>Synthetic crops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±5 bars around each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motif occurrence, ×3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(651k excerpts)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2633472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12848" y="3602736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353312" y="4718304"/>
            <a:ext cx="384048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97480" y="4718304"/>
            <a:ext cx="393192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06240" y="1234440"/>
            <a:ext cx="3794760" cy="5349240"/>
          </a:xfrm>
          <a:prstGeom prst="roundRect">
            <a:avLst/>
          </a:prstGeom>
          <a:solidFill>
            <a:srgbClr val="EBF5EE"/>
          </a:solidFill>
          <a:ln w="12700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1371600"/>
            <a:ext cx="3575304" cy="384048"/>
          </a:xfrm>
          <a:prstGeom prst="round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·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920240"/>
            <a:ext cx="333756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F7D4F"/>
                </a:solidFill>
              </a:defRPr>
            </a:pPr>
            <a:r>
              <a:t>Pretrained NotaGen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hierarchical patch-level encoder + char-level decoder (ABC notation)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889504"/>
            <a:ext cx="333756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F7D4F"/>
                </a:solidFill>
              </a:defRPr>
            </a:pPr>
            <a:r>
              <a:t>Phase 1 — synthetic curriculum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fine-tune on motif-labeled crops: association between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%motif prompt and local content is strong by construction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05072"/>
            <a:ext cx="3337560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F7D4F"/>
                </a:solidFill>
              </a:defRPr>
            </a:pPr>
            <a:r>
              <a:t>Phase 2 — real scores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full pieces with extracted-motif labels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attention bias β=+4 added to logits at motif key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5120640"/>
            <a:ext cx="33375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2F7D4F"/>
                </a:solidFill>
              </a:defRPr>
            </a:pPr>
            <a:r>
              <a:t>Matched evaluation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each phase eval'd on its own distribution AND bias config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best checkpoint selected on real, bias-on eval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2633472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9048" y="3749039"/>
            <a:ext cx="0" cy="256033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9048" y="4864608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86200" y="4434840"/>
            <a:ext cx="548640" cy="914400"/>
          </a:xfrm>
          <a:prstGeom prst="bentConnector3">
            <a:avLst/>
          </a:prstGeom>
          <a:ln w="22225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035808" y="5577840"/>
            <a:ext cx="1399032" cy="365760"/>
          </a:xfrm>
          <a:prstGeom prst="bentConnector3">
            <a:avLst/>
          </a:prstGeom>
          <a:ln w="22225">
            <a:solidFill>
              <a:srgbClr val="2E5EA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92440" y="1234440"/>
            <a:ext cx="3794760" cy="5349240"/>
          </a:xfrm>
          <a:prstGeom prst="roundRect">
            <a:avLst/>
          </a:prstGeom>
          <a:solidFill>
            <a:srgbClr val="FBF0E6"/>
          </a:solidFill>
          <a:ln w="12700">
            <a:solidFill>
              <a:srgbClr val="C26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02167" y="1371600"/>
            <a:ext cx="3575304" cy="384048"/>
          </a:xfrm>
          <a:prstGeom prst="roundRect">
            <a:avLst/>
          </a:prstGeom>
          <a:solidFill>
            <a:srgbClr val="C26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· Inference /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1920240"/>
            <a:ext cx="333756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C2611E"/>
                </a:solidFill>
              </a:defRPr>
            </a:pPr>
            <a:r>
              <a:t>User motif (creative seed)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(0, 3, -1, -1)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“leap up, then two steps down” — transposition-invariant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962656"/>
            <a:ext cx="333756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C2611E"/>
                </a:solidFill>
              </a:defRPr>
            </a:pPr>
            <a:r>
              <a:t>Prompt assembly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period · composer · instrumentation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+ %motif:v1:step_skip_leap: 0,3,-1,-1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005072"/>
            <a:ext cx="333756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6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C2611E"/>
                </a:solidFill>
              </a:defRPr>
            </a:pPr>
            <a:r>
              <a:t>Biased autoregressive decoding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β on motif key positions keeps the seed salient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top-k/top-p sampling, streamed bar patches</a:t>
            </a:r>
          </a:p>
        </p:txBody>
      </p:sp>
      <p:sp>
        <p:nvSpPr>
          <p:cNvPr id="31" name="Folded Corner 30"/>
          <p:cNvSpPr/>
          <p:nvPr/>
        </p:nvSpPr>
        <p:spPr>
          <a:xfrm>
            <a:off x="8321040" y="5047488"/>
            <a:ext cx="3337560" cy="1115568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C26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defRPr sz="1050" b="1">
                <a:solidFill>
                  <a:srgbClr val="C2611E"/>
                </a:solidFill>
              </a:defRPr>
            </a:pPr>
            <a:r>
              <a:t>Engraved score + audio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full piece containing &amp; developing the motif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scored by the transposition-invariant,</a:t>
            </a:r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t>enharmonic-aware containment evaluator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85248" y="2706624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85248" y="3749039"/>
            <a:ext cx="0" cy="256033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85248" y="4791456"/>
            <a:ext cx="0" cy="256032"/>
          </a:xfrm>
          <a:prstGeom prst="bentConnector3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72400" y="4398264"/>
            <a:ext cx="548640" cy="36576"/>
          </a:xfrm>
          <a:prstGeom prst="bentConnector3">
            <a:avLst/>
          </a:prstGeom>
          <a:ln w="22225">
            <a:solidFill>
              <a:srgbClr val="2F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2 — Motif adoption vs. real-data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Total body containment over 11 motifs, n=550 generations/model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6459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Monotonic: 47.3 → 57.3 → 60.7 → 62.7%.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Diminishing returns beyond 50k; gains concentrate in mid-distribution motifs (see Fig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3 — Adoption tracks training-set motif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Body containment per motif (n=50 each), motifs ordered by frequency rank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4592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4 — Training dynamics (matched eval)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Real-phase eval loss per epoch; bias-on eval; best epoch marked in caption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645920"/>
          <a:ext cx="78638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More real data flattens overfitting: 20k rises +0.048 over 10 epochs; 50k is flat over 3; 216k trains a single token-matched epoch.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Note: eval sets differ per corpus — curves are not directly comparable in absolute value; shapes are the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5 — Ablations (PLACEHOLDER: jobs running)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Full recipe vs bias-off inference vs pretrained+prompt (no recipe) vs unconditioned base rate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6459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20116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Fill from ablation jobs (abl_base / abl_norecipe_* / abl_biasoff_*) and the no-curriculum training run; re-run this script after parsing.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 6 — Attention-bias dose–response (RE-VERIFY before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Historical ladder measured with the PRE-FIX checker; re-measure on current models before publishing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6459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20116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β=8 collapses generation quality — the optimum β=4 is used everywhere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